
<file path=[Content_Types].xml><?xml version="1.0" encoding="utf-8"?>
<Types xmlns="http://schemas.openxmlformats.org/package/2006/content-types">
  <Default Extension="jpeg" ContentType="image/jpeg"/>
  <Default Extension="jpg" ContentType="image/png"/>
  <Default Extension="org&amp;utm_campaign=index&amp;utm_content=original" ContentType="image/png"/>
  <Default Extension="org&amp;utm_campaign=parser&amp;utm_content=thumbnail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media/image5.jpg" ContentType="image/jpeg"/>
  <Override PartName="/ppt/media/image11.jpg" ContentType="image/jpeg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811" r:id="rId2"/>
    <p:sldId id="1236" r:id="rId3"/>
    <p:sldId id="1237" r:id="rId4"/>
    <p:sldId id="1246" r:id="rId5"/>
    <p:sldId id="1251" r:id="rId6"/>
    <p:sldId id="1250" r:id="rId7"/>
    <p:sldId id="1253" r:id="rId8"/>
    <p:sldId id="1254" r:id="rId9"/>
    <p:sldId id="1247" r:id="rId10"/>
    <p:sldId id="1243" r:id="rId11"/>
    <p:sldId id="1238" r:id="rId12"/>
    <p:sldId id="1240" r:id="rId13"/>
    <p:sldId id="1244" r:id="rId14"/>
    <p:sldId id="1239" r:id="rId15"/>
    <p:sldId id="1257" r:id="rId16"/>
    <p:sldId id="1256" r:id="rId17"/>
    <p:sldId id="1241" r:id="rId18"/>
    <p:sldId id="1158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5C3"/>
    <a:srgbClr val="E986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326" autoAdjust="0"/>
    <p:restoredTop sz="76194"/>
  </p:normalViewPr>
  <p:slideViewPr>
    <p:cSldViewPr snapToGrid="0">
      <p:cViewPr varScale="1">
        <p:scale>
          <a:sx n="87" d="100"/>
          <a:sy n="87" d="100"/>
        </p:scale>
        <p:origin x="1136" y="184"/>
      </p:cViewPr>
      <p:guideLst/>
    </p:cSldViewPr>
  </p:slideViewPr>
  <p:notesTextViewPr>
    <p:cViewPr>
      <p:scale>
        <a:sx n="185" d="100"/>
        <a:sy n="185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C994D2-5E16-4D9C-AEFB-2A261088A902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4B687B-81D5-4F44-AE6B-34CD1245FD0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4B687B-81D5-4F44-AE6B-34CD1245FD04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4B687B-81D5-4F44-AE6B-34CD1245FD04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14425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850D8-1F89-3013-98DA-6955FC878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AD5A79-DBB1-C396-3ADE-0220F39601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BA86B0-1256-24BB-EF75-AC9C842792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4B7FC2-0706-568F-555E-B582477293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4B687B-81D5-4F44-AE6B-34CD1245FD0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20420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4B687B-81D5-4F44-AE6B-34CD1245FD04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50085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0FC3B-12B3-3061-55AA-F8B655F2A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90F634-C517-519B-E2BF-6DA58D61C9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F5E105-A7E6-A924-6AE6-213E441B82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C771A3-2ACA-A8C1-1F9B-4BEA86BC6B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4B687B-81D5-4F44-AE6B-34CD1245FD04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35700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C6F35-625C-E118-8AB0-8BC6FB3DC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733227-1903-CDC0-DD21-ED8863EDE4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D3C724-6ED7-CCB2-7DCA-7281B78B6A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BD8C26-4225-AB0A-4397-8B05354666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4B687B-81D5-4F44-AE6B-34CD1245FD04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26921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4B687B-81D5-4F44-AE6B-34CD1245FD04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63827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4B687B-81D5-4F44-AE6B-34CD1245FD04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86142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092CB-2E89-A4BA-C80E-548888B76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747605-1F6D-E173-78C5-1983D4D5B9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59D12D-C84F-B1D1-EB33-2F108136D1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2FDD47-2227-C44F-B502-A35DDA2714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4B687B-81D5-4F44-AE6B-34CD1245FD04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82594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AF4C5-BF8C-F408-AE16-812D66BC2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30C16E-051E-05DC-1505-BAA2F32A78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E6A8E9-6B7E-10B1-B698-1505522318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40CB8A-7B78-F068-5913-A2203E88DA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4B687B-81D5-4F44-AE6B-34CD1245FD04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31163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4B687B-81D5-4F44-AE6B-34CD1245FD04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539BE-7814-4F40-9B13-ED058F5296F6}" type="datetime1">
              <a:rPr lang="en-US" altLang="zh-CN" smtClean="0"/>
              <a:t>8/31/26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C9E33-6753-472F-9C09-83153B974C9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879E7-7309-B744-8508-55BA062823BA}" type="datetime1">
              <a:rPr lang="en-US" altLang="zh-CN" smtClean="0"/>
              <a:t>8/31/26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C9E33-6753-472F-9C09-83153B974C9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38E8C-83BF-0343-BA9D-CD8934766BEE}" type="datetime1">
              <a:rPr lang="en-US" altLang="zh-CN" smtClean="0"/>
              <a:t>8/31/26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C9E33-6753-472F-9C09-83153B974C9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9572B-CB40-274D-8E20-0E4CAD31D592}" type="datetime1">
              <a:rPr lang="en-US" altLang="zh-CN" smtClean="0"/>
              <a:t>8/31/26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C9E33-6753-472F-9C09-83153B974C9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5FE47-B48D-7047-923A-F9E5E9AACF6E}" type="datetime1">
              <a:rPr lang="en-US" altLang="zh-CN" smtClean="0"/>
              <a:t>8/31/26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C9E33-6753-472F-9C09-83153B974C9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127E9-7423-514E-8A91-6221CF408F22}" type="datetime1">
              <a:rPr lang="en-US" altLang="zh-CN" smtClean="0"/>
              <a:t>8/31/26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C9E33-6753-472F-9C09-83153B974C9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2ECE4-6FD7-4C49-ACA7-0491F2AA5E06}" type="datetime1">
              <a:rPr lang="en-US" altLang="zh-CN" smtClean="0"/>
              <a:t>8/31/26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C9E33-6753-472F-9C09-83153B974C9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8077B-E76B-4B41-B17F-19AC0FC832B3}" type="datetime1">
              <a:rPr lang="en-US" altLang="zh-CN" smtClean="0"/>
              <a:t>8/31/26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C9E33-6753-472F-9C09-83153B974C9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24C7A-7D1C-8740-9D15-AD14720A28F9}" type="datetime1">
              <a:rPr lang="en-US" altLang="zh-CN" smtClean="0"/>
              <a:t>8/31/26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C9E33-6753-472F-9C09-83153B974C9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FED07-9D19-3E4F-BFBB-DBA043D25E28}" type="datetime1">
              <a:rPr lang="en-US" altLang="zh-CN" smtClean="0"/>
              <a:t>8/31/26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C9E33-6753-472F-9C09-83153B974C9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30EEB-C08B-094A-93F5-FA783B6F7AB4}" type="datetime1">
              <a:rPr lang="en-US" altLang="zh-CN" smtClean="0"/>
              <a:t>8/31/26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C9E33-6753-472F-9C09-83153B974C9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63DA8F-0F2F-984A-A18D-D21C38A7121B}" type="datetime1">
              <a:rPr lang="en-US" altLang="zh-CN" smtClean="0"/>
              <a:t>8/31/26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4C9E33-6753-472F-9C09-83153B974C9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mailto:mingxunz@ust.hk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jpg"/><Relationship Id="rId4" Type="http://schemas.openxmlformats.org/officeDocument/2006/relationships/hyperlink" Target="https://wuwuz.github.io/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org&amp;utm_campaign=index&amp;utm_content=origi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org&amp;utm_campaign=parser&amp;utm_content=thumbnai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canvas.ust.hk/courses/71954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uwuz.github.io/COMP2711/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mailto:armanh@ust.hk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liutianren.com/discrete/ref/A%20Course%20in%20Discrete%20Structures.pdf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uwuz.github.io/COMP2711/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2" name="Rectangle 104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4" name="Rectangle 104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7980" y="1122363"/>
            <a:ext cx="4783567" cy="3204134"/>
          </a:xfrm>
        </p:spPr>
        <p:txBody>
          <a:bodyPr anchor="b">
            <a:noAutofit/>
          </a:bodyPr>
          <a:lstStyle/>
          <a:p>
            <a:pPr algn="l"/>
            <a:r>
              <a:rPr lang="en-US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 2711 </a:t>
            </a:r>
            <a:br>
              <a:rPr lang="en-US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Discrete Math</a:t>
            </a:r>
            <a:endParaRPr lang="en-US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ubtitle 2"/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558715" cy="1208141"/>
          </a:xfrm>
        </p:spPr>
        <p:txBody>
          <a:bodyPr>
            <a:noAutofit/>
          </a:bodyPr>
          <a:lstStyle/>
          <a:p>
            <a:pPr algn="l"/>
            <a:r>
              <a:rPr lang="en-US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Mingxun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Zhou</a:t>
            </a:r>
          </a:p>
          <a:p>
            <a:pPr algn="l"/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CSE, HKUST</a:t>
            </a:r>
          </a:p>
        </p:txBody>
      </p:sp>
      <p:sp>
        <p:nvSpPr>
          <p:cNvPr id="1046" name="Rectangle 104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48" name="Rectangle 104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C9E33-6753-472F-9C09-83153B974C9D}" type="slidenum">
              <a:rPr lang="zh-CN" altLang="en-US" smtClean="0"/>
              <a:t>1</a:t>
            </a:fld>
            <a:endParaRPr lang="zh-CN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2DDB9B4-CD31-8409-DAD3-DA6FE97E9C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9474" y="0"/>
            <a:ext cx="551252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42300-D7F7-8F3B-87C2-2633E1048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About 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FA6C19-D556-8F8A-7DAF-B1A8F4D5E7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Mingxu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n Zhou (</a:t>
            </a:r>
            <a:r>
              <a:rPr lang="ja-JP" altLang="en-US" b="1"/>
              <a:t>周銘洵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Assistant Professor in HKUST CSE (since 2026)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PhD at Carnegie Mellon University (2025) 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Undergrad at Peking University (2020) </a:t>
            </a:r>
            <a:endParaRPr lang="en-US" i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ICPC / NOI Gold Medalist (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Currently: Coach of HKUST ICPC team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DB2CC2-D64A-6C98-F03A-F215A2080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C9E33-6753-472F-9C09-83153B974C9D}" type="slidenum">
              <a:rPr lang="zh-CN" altLang="en-US" smtClean="0">
                <a:latin typeface="Calibri" panose="020F0502020204030204" pitchFamily="34" charset="0"/>
                <a:cs typeface="Calibri" panose="020F0502020204030204" pitchFamily="34" charset="0"/>
              </a:rPr>
              <a:t>2</a:t>
            </a:fld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47AA7F-C925-6993-F523-0995078ECF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6294" y="591878"/>
            <a:ext cx="2833489" cy="302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6312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E54B0-AAA0-99FA-3B1E-E40966E10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F0B80-809C-2ED9-80D1-AEE1F0E52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About 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FF7EA3-D994-9DCD-50F3-8948F8E940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Research Interest: </a:t>
            </a:r>
          </a:p>
          <a:p>
            <a:pPr lvl="1"/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Data security / Privacy</a:t>
            </a:r>
          </a:p>
          <a:p>
            <a:pPr lvl="1"/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Cryptography, Algorithms</a:t>
            </a:r>
          </a:p>
          <a:p>
            <a:pPr lvl="1"/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AI Governance</a:t>
            </a:r>
          </a:p>
          <a:p>
            <a:pPr lvl="1"/>
            <a:endParaRPr lang="en-US" i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endParaRPr lang="en-US" i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Email: 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  <a:hlinkClick r:id="rId3"/>
              </a:rPr>
              <a:t>mingxunz@ust.hk</a:t>
            </a:r>
            <a:endParaRPr lang="en-US" i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Webpage: 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  <a:hlinkClick r:id="rId4"/>
              </a:rPr>
              <a:t>https://wuwuz.github.io/</a:t>
            </a:r>
            <a:endParaRPr lang="en-US" i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i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I speak </a:t>
            </a:r>
            <a:r>
              <a:rPr lang="en-US" i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Mandarin, Cantonese and English</a:t>
            </a:r>
            <a:endParaRPr lang="en-US" i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11C2E2-2258-7BEC-8FA5-D37A8F4A0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C9E33-6753-472F-9C09-83153B974C9D}" type="slidenum">
              <a:rPr lang="zh-CN" altLang="en-US" smtClean="0">
                <a:latin typeface="Calibri" panose="020F0502020204030204" pitchFamily="34" charset="0"/>
                <a:cs typeface="Calibri" panose="020F0502020204030204" pitchFamily="34" charset="0"/>
              </a:rPr>
              <a:t>3</a:t>
            </a:fld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0C6BEAA-9A1E-EC6F-6A9D-926E3B32FF2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6294" y="591878"/>
            <a:ext cx="2833489" cy="302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2587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6CDCB-EA2A-66B9-3698-8B2BE698B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Why Discrete Math?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520470-C31D-3405-AFE6-1C4812CFF7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One of four fundamental math classes for CS major</a:t>
            </a:r>
          </a:p>
          <a:p>
            <a:pPr marL="0" indent="0">
              <a:buNone/>
            </a:pP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2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Discrete Math</a:t>
            </a:r>
          </a:p>
          <a:p>
            <a:r>
              <a:rPr lang="en-US" sz="32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Calculus</a:t>
            </a:r>
          </a:p>
          <a:p>
            <a:r>
              <a:rPr lang="en-US" sz="32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Linear Algebra</a:t>
            </a:r>
          </a:p>
          <a:p>
            <a:r>
              <a:rPr lang="en-US" sz="32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Probability and Statistics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B008EA-7A7B-54F4-1710-64FCA46E5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C9E33-6753-472F-9C09-83153B974C9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30893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D9CFF-A867-0496-A378-B2276C90A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3983B-8A50-A9FC-EA91-1731D736D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What you are going to learn (1)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0D8DB5-CDB8-7F3E-BAB3-5C624AEC5B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26395" cy="4351338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Basic Logics and Proofs</a:t>
            </a:r>
          </a:p>
          <a:p>
            <a:pPr lvl="1"/>
            <a:r>
              <a:rPr lang="en-US" sz="36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grammar of math</a:t>
            </a:r>
          </a:p>
          <a:p>
            <a:pPr marL="457200" lvl="1" indent="0">
              <a:buNone/>
            </a:pPr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Sets , Functions, Graphs</a:t>
            </a:r>
          </a:p>
          <a:p>
            <a:pPr lvl="1"/>
            <a:r>
              <a:rPr lang="en-US" sz="36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most fundamental objects in math</a:t>
            </a:r>
          </a:p>
          <a:p>
            <a:pPr lvl="1"/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51880F-2B65-FC59-946A-886FABBF6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C9E33-6753-472F-9C09-83153B974C9D}" type="slidenum">
              <a:rPr lang="zh-CN" altLang="en-US" smtClean="0"/>
              <a:t>5</a:t>
            </a:fld>
            <a:endParaRPr lang="zh-CN" altLang="en-US"/>
          </a:p>
        </p:txBody>
      </p:sp>
      <p:pic>
        <p:nvPicPr>
          <p:cNvPr id="5" name="Picture 4" descr="Logic - Wikipedia">
            <a:extLst>
              <a:ext uri="{FF2B5EF4-FFF2-40B4-BE49-F238E27FC236}">
                <a16:creationId xmlns:a16="http://schemas.microsoft.com/office/drawing/2014/main" id="{070FFCE1-3702-4779-41EE-A65FD4D4B4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2997" y="1690688"/>
            <a:ext cx="2109482" cy="173831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" name="Picture 5" descr="Relations and Functions | Meaning, Relationship &amp; Types | Study.com">
            <a:extLst>
              <a:ext uri="{FF2B5EF4-FFF2-40B4-BE49-F238E27FC236}">
                <a16:creationId xmlns:a16="http://schemas.microsoft.com/office/drawing/2014/main" id="{3B1FE092-417E-198A-03BF-99E93767CD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2997" y="4001294"/>
            <a:ext cx="2121741" cy="272018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Picture 6" descr="Math Alive Graphs 1">
            <a:extLst>
              <a:ext uri="{FF2B5EF4-FFF2-40B4-BE49-F238E27FC236}">
                <a16:creationId xmlns:a16="http://schemas.microsoft.com/office/drawing/2014/main" id="{C2E0E0D9-FB71-7281-1EC0-DEA385515E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9341" y="4252912"/>
            <a:ext cx="2286000" cy="2286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502660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AB95B-7062-2EBE-2367-5281DAD2E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What you are going to learn (2)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54BD20-64B7-FB96-D04A-B44C85BC1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64842" cy="4351338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Counting </a:t>
            </a:r>
          </a:p>
          <a:p>
            <a:pPr lvl="1"/>
            <a:r>
              <a:rPr lang="en-US" sz="36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Human’s first instincts of math</a:t>
            </a:r>
          </a:p>
          <a:p>
            <a:pPr lvl="1"/>
            <a:endParaRPr lang="en-US" sz="3600" dirty="0">
              <a:solidFill>
                <a:srgbClr val="C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Basic Probability</a:t>
            </a:r>
          </a:p>
          <a:p>
            <a:pPr lvl="1"/>
            <a:r>
              <a:rPr lang="en-US" sz="36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Your first step to understand “randomness”</a:t>
            </a:r>
          </a:p>
          <a:p>
            <a:pPr lvl="1"/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A2FA63-07CE-AFED-749D-3BF8A2868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C9E33-6753-472F-9C09-83153B974C9D}" type="slidenum">
              <a:rPr lang="zh-CN" altLang="en-US" smtClean="0"/>
              <a:t>6</a:t>
            </a:fld>
            <a:endParaRPr lang="zh-CN" altLang="en-US"/>
          </a:p>
        </p:txBody>
      </p:sp>
      <p:pic>
        <p:nvPicPr>
          <p:cNvPr id="5" name="Picture 4" descr="Counting | numeracy - BBC Bitesize">
            <a:extLst>
              <a:ext uri="{FF2B5EF4-FFF2-40B4-BE49-F238E27FC236}">
                <a16:creationId xmlns:a16="http://schemas.microsoft.com/office/drawing/2014/main" id="{92692EA8-0652-BB8F-76C5-99639E95DE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6700" y="1646238"/>
            <a:ext cx="3083442" cy="1734436"/>
          </a:xfrm>
          <a:prstGeom prst="rect">
            <a:avLst/>
          </a:prstGeom>
        </p:spPr>
      </p:pic>
      <p:pic>
        <p:nvPicPr>
          <p:cNvPr id="6" name="Picture 5" descr="Dice - Wikipedia">
            <a:extLst>
              <a:ext uri="{FF2B5EF4-FFF2-40B4-BE49-F238E27FC236}">
                <a16:creationId xmlns:a16="http://schemas.microsoft.com/office/drawing/2014/main" id="{4C8F0A02-2B10-8C34-AA74-B7F47C5A9E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0600" y="4001294"/>
            <a:ext cx="2095500" cy="181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418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1BE30-FC6B-4129-2AAD-1E1D2BFC5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64E3E-6DD6-C871-82D7-C3BD8576A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What you are going to learn (3)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916E85-A319-0B86-3710-2B6D3A46AC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664842" cy="4351338"/>
              </a:xfrm>
            </p:spPr>
            <p:txBody>
              <a:bodyPr>
                <a:normAutofit/>
              </a:bodyPr>
              <a:lstStyle/>
              <a:p>
                <a:r>
                  <a:rPr lang="en-US" sz="4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Basic Number Theory </a:t>
                </a:r>
              </a:p>
              <a:p>
                <a:pPr lvl="1"/>
                <a:r>
                  <a:rPr lang="en-US" sz="3600" dirty="0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E.g. 17 </a:t>
                </a:r>
                <a14:m>
                  <m:oMath xmlns:m="http://schemas.openxmlformats.org/officeDocument/2006/math">
                    <m:r>
                      <a:rPr lang="en-US" sz="36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≡</m:t>
                    </m:r>
                  </m:oMath>
                </a14:m>
                <a:r>
                  <a:rPr lang="en-US" sz="3600" dirty="0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2 (mod 5)</a:t>
                </a:r>
              </a:p>
              <a:p>
                <a:pPr lvl="1"/>
                <a:endParaRPr lang="en-US" sz="3600" dirty="0">
                  <a:solidFill>
                    <a:srgbClr val="C0000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1"/>
                <a:endParaRPr lang="en-US" sz="3600" dirty="0">
                  <a:solidFill>
                    <a:srgbClr val="C0000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57200" lvl="1" indent="0">
                  <a:buNone/>
                </a:pPr>
                <a:endParaRPr lang="en-US" sz="36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1"/>
                <a:r>
                  <a:rPr lang="en-US" sz="3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and some cryptography </a:t>
                </a:r>
                <a:r>
                  <a:rPr lang="en-US" sz="3600" dirty="0">
                    <a:latin typeface="Calibri" panose="020F0502020204030204" pitchFamily="34" charset="0"/>
                    <a:cs typeface="Calibri" panose="020F0502020204030204" pitchFamily="34" charset="0"/>
                    <a:sym typeface="Wingdings" pitchFamily="2" charset="2"/>
                  </a:rPr>
                  <a:t></a:t>
                </a:r>
                <a:endParaRPr lang="en-US" sz="36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1"/>
                <a:endParaRPr lang="en-US" sz="36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1"/>
                <a:endParaRPr lang="en-US" sz="36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916E85-A319-0B86-3710-2B6D3A46AC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664842" cy="4351338"/>
              </a:xfrm>
              <a:blipFill>
                <a:blip r:embed="rId2"/>
                <a:stretch>
                  <a:fillRect l="-3048" t="-34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C6553A-973E-003A-AC44-428CC3F5C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C9E33-6753-472F-9C09-83153B974C9D}" type="slidenum">
              <a:rPr lang="zh-CN" altLang="en-US" smtClean="0"/>
              <a:t>7</a:t>
            </a:fld>
            <a:endParaRPr lang="zh-CN" alt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B9216CD-542D-FA70-0F9E-4B35E05D0B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0885" y="2255522"/>
            <a:ext cx="2111085" cy="151632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4286309-7FE7-0899-347C-0536CA671DBF}"/>
              </a:ext>
            </a:extLst>
          </p:cNvPr>
          <p:cNvSpPr txBox="1"/>
          <p:nvPr/>
        </p:nvSpPr>
        <p:spPr>
          <a:xfrm>
            <a:off x="6018224" y="3905862"/>
            <a:ext cx="32708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”Number theory is hard”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4F8AC40-4368-8D2F-2967-2E0CC06363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7519" y="1320800"/>
            <a:ext cx="2195745" cy="258506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EBCCE3A-8C47-28B0-8A3C-CB74B7C7AE61}"/>
              </a:ext>
            </a:extLst>
          </p:cNvPr>
          <p:cNvSpPr txBox="1"/>
          <p:nvPr/>
        </p:nvSpPr>
        <p:spPr>
          <a:xfrm>
            <a:off x="9982200" y="4001294"/>
            <a:ext cx="18963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”Yes, it’s really hard”</a:t>
            </a:r>
          </a:p>
        </p:txBody>
      </p:sp>
    </p:spTree>
    <p:extLst>
      <p:ext uri="{BB962C8B-B14F-4D97-AF65-F5344CB8AC3E}">
        <p14:creationId xmlns:p14="http://schemas.microsoft.com/office/powerpoint/2010/main" val="3945571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A36CD-9E96-60E0-A453-23E9AF78B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BE3B2-EED4-DDBB-6CA1-62A5216F3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What you are going to learn (4)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C29F7B-AF39-4C1C-5BCD-8AE2275BCC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64842" cy="4351338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Basic Algorithms</a:t>
            </a:r>
          </a:p>
          <a:p>
            <a:pPr lvl="1"/>
            <a:r>
              <a:rPr lang="en-US" sz="32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“What can a computer do?”</a:t>
            </a:r>
          </a:p>
          <a:p>
            <a:pPr lvl="1"/>
            <a:r>
              <a:rPr lang="en-US" sz="32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“At what cost?”</a:t>
            </a:r>
          </a:p>
          <a:p>
            <a:pPr lvl="1"/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CEFCA0-EC58-C919-8B7A-C2ADFBDAF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C9E33-6753-472F-9C09-83153B974C9D}" type="slidenum">
              <a:rPr lang="zh-CN" altLang="en-US" smtClean="0"/>
              <a:t>8</a:t>
            </a:fld>
            <a:endParaRPr lang="zh-CN" altLang="en-US"/>
          </a:p>
        </p:txBody>
      </p:sp>
      <p:pic>
        <p:nvPicPr>
          <p:cNvPr id="5" name="Picture 4" descr="Alan Turing - Wikipedia">
            <a:extLst>
              <a:ext uri="{FF2B5EF4-FFF2-40B4-BE49-F238E27FC236}">
                <a16:creationId xmlns:a16="http://schemas.microsoft.com/office/drawing/2014/main" id="{A3F17E6E-F81A-0F22-14CF-99FE34D12B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4700" y="2766604"/>
            <a:ext cx="2280388" cy="3028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059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A45EFE3-9954-88B1-BC23-1AA2B73C5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7140" y="2766218"/>
            <a:ext cx="10515600" cy="1325563"/>
          </a:xfrm>
        </p:spPr>
        <p:txBody>
          <a:bodyPr>
            <a:normAutofit/>
          </a:bodyPr>
          <a:lstStyle/>
          <a:p>
            <a:pPr algn="l">
              <a:buNone/>
            </a:pPr>
            <a:r>
              <a:rPr lang="en-US" sz="7200" b="1" dirty="0">
                <a:latin typeface="Calibri" panose="020F0502020204030204" pitchFamily="34" charset="0"/>
                <a:cs typeface="Calibri" panose="020F0502020204030204" pitchFamily="34" charset="0"/>
              </a:rPr>
              <a:t>About the Class</a:t>
            </a:r>
          </a:p>
        </p:txBody>
      </p:sp>
    </p:spTree>
    <p:extLst>
      <p:ext uri="{BB962C8B-B14F-4D97-AF65-F5344CB8AC3E}">
        <p14:creationId xmlns:p14="http://schemas.microsoft.com/office/powerpoint/2010/main" val="1857353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15578-601C-12EB-9C5E-C190B43AE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06B59-F345-ED11-41EA-B7222A6FA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Everything starts here (take a picture 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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CFC117-CFC8-335A-512B-41BA7BC067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Canvas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  <a:hlinkClick r:id="rId3"/>
              </a:rPr>
              <a:t>https://canvas.ust.hk/courses/71954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Web page for this session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  <a:hlinkClick r:id="rId4"/>
              </a:rPr>
              <a:t>https://wuwuz.github.io/COMP2711/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(our materials will be posted here)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0FBB42-B909-679F-6972-E1D5B9835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C9E33-6753-472F-9C09-83153B974C9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99518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C87B1-E9FE-4DA6-79C1-D4418ED99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95C07-1153-23FC-E220-5EDF0B308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People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63C43E-C65D-A50E-9580-E1258DE995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Multi-Session Class (shared topics / assignments / exams)</a:t>
            </a:r>
          </a:p>
          <a:p>
            <a:pPr lvl="1"/>
            <a:endParaRPr lang="en-US" i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Instructors</a:t>
            </a:r>
          </a:p>
          <a:p>
            <a:pPr lvl="1"/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Prof. </a:t>
            </a:r>
            <a:r>
              <a:rPr lang="en-US" dirty="0"/>
              <a:t>Dimitrios </a:t>
            </a:r>
            <a:r>
              <a:rPr lang="en-US" dirty="0" err="1"/>
              <a:t>Papadias</a:t>
            </a:r>
            <a:r>
              <a:rPr lang="en-US" dirty="0"/>
              <a:t> &lt;</a:t>
            </a:r>
            <a:r>
              <a:rPr lang="en-US" dirty="0" err="1"/>
              <a:t>dimitris@ust.hk</a:t>
            </a:r>
            <a:r>
              <a:rPr lang="en-US" dirty="0"/>
              <a:t>&gt;     (Core Coordinator) </a:t>
            </a:r>
          </a:p>
          <a:p>
            <a:pPr lvl="1"/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Prof. </a:t>
            </a:r>
            <a:r>
              <a:rPr lang="en-US" dirty="0"/>
              <a:t>Lionel </a:t>
            </a:r>
            <a:r>
              <a:rPr lang="en-US" dirty="0" err="1"/>
              <a:t>Parreaux</a:t>
            </a:r>
            <a:r>
              <a:rPr lang="en-US" dirty="0"/>
              <a:t> &lt;</a:t>
            </a:r>
            <a:r>
              <a:rPr lang="en-US" dirty="0" err="1"/>
              <a:t>parreaux@ust.hk</a:t>
            </a:r>
            <a:r>
              <a:rPr lang="en-US" dirty="0"/>
              <a:t>&gt;</a:t>
            </a:r>
          </a:p>
          <a:p>
            <a:pPr lvl="1"/>
            <a:r>
              <a:rPr lang="en-US" b="1" i="1" dirty="0">
                <a:latin typeface="Calibri" panose="020F0502020204030204" pitchFamily="34" charset="0"/>
                <a:cs typeface="Calibri" panose="020F0502020204030204" pitchFamily="34" charset="0"/>
              </a:rPr>
              <a:t>Prof. </a:t>
            </a:r>
            <a:r>
              <a:rPr lang="en-US" b="1" dirty="0"/>
              <a:t>Mingxun Zhou &lt;</a:t>
            </a:r>
            <a:r>
              <a:rPr lang="en-US" b="1" dirty="0" err="1"/>
              <a:t>mingxunz@ust.hk</a:t>
            </a:r>
            <a:r>
              <a:rPr lang="en-US" b="1" dirty="0"/>
              <a:t>&gt;</a:t>
            </a:r>
            <a:endParaRPr lang="en-US" b="1" i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endParaRPr lang="en-US" i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Leading Instructor Assistant  (IA)</a:t>
            </a:r>
          </a:p>
          <a:p>
            <a:pPr lvl="1"/>
            <a:r>
              <a:rPr lang="en-US" dirty="0"/>
              <a:t>HAGHIGHI Arman </a:t>
            </a:r>
            <a:r>
              <a:rPr lang="en-US" dirty="0">
                <a:hlinkClick r:id="rId3"/>
              </a:rPr>
              <a:t>armanh@ust.hk</a:t>
            </a:r>
            <a:endParaRPr lang="en-US" dirty="0"/>
          </a:p>
          <a:p>
            <a:pPr lvl="1"/>
            <a:endParaRPr lang="en-US" i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TAs: (found them in Canvas 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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667DE9-5254-736D-23F2-D9D891C68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C9E33-6753-472F-9C09-83153B974C9D}" type="slidenum">
              <a:rPr lang="zh-CN" altLang="en-US" smtClean="0">
                <a:latin typeface="Calibri" panose="020F0502020204030204" pitchFamily="34" charset="0"/>
                <a:cs typeface="Calibri" panose="020F0502020204030204" pitchFamily="34" charset="0"/>
              </a:rPr>
              <a:t>11</a:t>
            </a:fld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58151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BA85A-4BDE-CDA9-B9ED-030F135A1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F6C44-D29F-CC8E-050F-82A4755C6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Time &amp; Location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6C0379-C73A-31CD-24FD-56C38F458F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b="1" i="1" dirty="0">
                <a:latin typeface="Calibri" panose="020F0502020204030204" pitchFamily="34" charset="0"/>
                <a:cs typeface="Calibri" panose="020F0502020204030204" pitchFamily="34" charset="0"/>
              </a:rPr>
              <a:t>Main Lectures</a:t>
            </a:r>
          </a:p>
          <a:p>
            <a:pPr lvl="1"/>
            <a:r>
              <a:rPr lang="en-US" sz="2800" b="1" dirty="0"/>
              <a:t>Time</a:t>
            </a:r>
            <a:r>
              <a:rPr lang="en-US" sz="2800" dirty="0"/>
              <a:t>: Tuesday Thursday            01:30PM - 02:50PM</a:t>
            </a:r>
          </a:p>
          <a:p>
            <a:pPr lvl="1"/>
            <a:r>
              <a:rPr lang="en-US" sz="2800" b="1" dirty="0"/>
              <a:t>Location:</a:t>
            </a:r>
          </a:p>
          <a:p>
            <a:pPr lvl="2"/>
            <a:r>
              <a:rPr lang="en-US" sz="24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Lecture Theatre B</a:t>
            </a:r>
            <a:r>
              <a:rPr lang="en-US" sz="28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(01 Sep 2026 - 29 Sep 2026)</a:t>
            </a:r>
            <a:endParaRPr lang="en-US" sz="2800" b="1" dirty="0">
              <a:solidFill>
                <a:srgbClr val="C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2"/>
            <a:r>
              <a:rPr lang="en-US" sz="24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LG4101</a:t>
            </a:r>
            <a:r>
              <a:rPr lang="en-US" sz="28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(06 Oct 2026 - 26 Nov 2026)</a:t>
            </a:r>
          </a:p>
          <a:p>
            <a:pPr lvl="2"/>
            <a:r>
              <a:rPr lang="en-US" sz="28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</a:t>
            </a:r>
            <a:r>
              <a:rPr lang="en-US" sz="28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--&gt; remember this! Location change in the middle</a:t>
            </a:r>
            <a:endParaRPr lang="en-US" sz="2400" dirty="0"/>
          </a:p>
          <a:p>
            <a:r>
              <a:rPr lang="en-US" sz="3200" b="1" i="1" dirty="0">
                <a:latin typeface="Calibri" panose="020F0502020204030204" pitchFamily="34" charset="0"/>
                <a:cs typeface="Calibri" panose="020F0502020204030204" pitchFamily="34" charset="0"/>
              </a:rPr>
              <a:t>Tutorial / Q&amp;A sessions by TAs (starting week 2)</a:t>
            </a:r>
          </a:p>
          <a:p>
            <a:pPr lvl="1"/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Take what session that fits you</a:t>
            </a:r>
            <a:endParaRPr lang="en-US" sz="2800" i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endParaRPr lang="en-US" sz="2800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1E203D-8C20-12A7-E9C1-9DEE5D9DA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C9E33-6753-472F-9C09-83153B974C9D}" type="slidenum">
              <a:rPr lang="zh-CN" altLang="en-US" smtClean="0">
                <a:latin typeface="Calibri" panose="020F0502020204030204" pitchFamily="34" charset="0"/>
                <a:cs typeface="Calibri" panose="020F0502020204030204" pitchFamily="34" charset="0"/>
              </a:rPr>
              <a:t>12</a:t>
            </a:fld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22883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6574F-C5FA-24F5-C088-18CF635CF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Communication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35A31-7449-1ADD-AECB-730CD85BA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3600" b="1" dirty="0">
                <a:latin typeface="Calibri" panose="020F0502020204030204" pitchFamily="34" charset="0"/>
                <a:cs typeface="Calibri" panose="020F0502020204030204" pitchFamily="34" charset="0"/>
              </a:rPr>
              <a:t>Daily</a:t>
            </a:r>
          </a:p>
          <a:p>
            <a:pPr lvl="1"/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Office hours / tutorial sessions</a:t>
            </a:r>
            <a:endParaRPr lang="en-US" sz="32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Canvas - Announcement</a:t>
            </a:r>
          </a:p>
          <a:p>
            <a:pPr lvl="1"/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Canvas – Discussion</a:t>
            </a:r>
          </a:p>
          <a:p>
            <a:pPr lvl="1"/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Telegram group (find it on canvas)</a:t>
            </a:r>
          </a:p>
          <a:p>
            <a:pPr lvl="1"/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600" b="1" dirty="0">
                <a:latin typeface="Calibri" panose="020F0502020204030204" pitchFamily="34" charset="0"/>
                <a:cs typeface="Calibri" panose="020F0502020204030204" pitchFamily="34" charset="0"/>
              </a:rPr>
              <a:t>Urgent</a:t>
            </a:r>
          </a:p>
          <a:p>
            <a:pPr lvl="1"/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Email title with [COMP2711]</a:t>
            </a:r>
          </a:p>
          <a:p>
            <a:pPr lvl="1"/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Example: “[COMP2711] Can’t do the midterm – Health Conditions”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BF07DB-2A60-23DA-F180-C87EB575A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C9E33-6753-472F-9C09-83153B974C9D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68289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EC653-0D60-CA0C-BA27-ACEDD9D2A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Grading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C06311-A02D-F006-9DF0-2210093A41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latin typeface="Calibri" panose="020F0502020204030204" pitchFamily="34" charset="0"/>
                <a:cs typeface="Calibri" panose="020F0502020204030204" pitchFamily="34" charset="0"/>
              </a:rPr>
              <a:t>Attending classes</a:t>
            </a:r>
            <a:endParaRPr lang="en-US" b="1" i="1" dirty="0">
              <a:solidFill>
                <a:srgbClr val="C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Recordings not guaranteed, but we will try</a:t>
            </a:r>
          </a:p>
          <a:p>
            <a:pPr lvl="1"/>
            <a:endParaRPr lang="en-US" i="1" dirty="0">
              <a:solidFill>
                <a:srgbClr val="C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i="1" dirty="0">
                <a:latin typeface="Calibri" panose="020F0502020204030204" pitchFamily="34" charset="0"/>
                <a:cs typeface="Calibri" panose="020F0502020204030204" pitchFamily="34" charset="0"/>
              </a:rPr>
              <a:t>Homework </a:t>
            </a:r>
            <a:r>
              <a:rPr lang="en-US" b="1" i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(20%)</a:t>
            </a:r>
          </a:p>
          <a:p>
            <a:pPr lvl="1"/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4 units, each with 10-14 days window </a:t>
            </a:r>
          </a:p>
          <a:p>
            <a:pPr lvl="1"/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View / Submit: </a:t>
            </a:r>
          </a:p>
          <a:p>
            <a:pPr lvl="2"/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Canvas</a:t>
            </a:r>
          </a:p>
          <a:p>
            <a:pPr lvl="2"/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1 pdf submission for each assignment (typeset or handwritten)</a:t>
            </a:r>
          </a:p>
          <a:p>
            <a:pPr lvl="1"/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AI / Collaboration Policy: declarative usage 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(warning: you will fail in the exams if you never practice)</a:t>
            </a:r>
          </a:p>
          <a:p>
            <a:pPr lvl="1"/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Late Submission: 1 hour for 1 point deduction.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C25077-59B6-562F-78D0-4820B482F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C9E33-6753-472F-9C09-83153B974C9D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0790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DC3ED-98B8-6854-A427-8E0EC8F36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7FFAA-60C7-5360-6045-D313F58F9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Grading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85730-7E3F-EC4A-B174-9F3E12BA6F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i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i="1" dirty="0">
                <a:latin typeface="Calibri" panose="020F0502020204030204" pitchFamily="34" charset="0"/>
                <a:cs typeface="Calibri" panose="020F0502020204030204" pitchFamily="34" charset="0"/>
              </a:rPr>
              <a:t>Mid-term </a:t>
            </a:r>
            <a:r>
              <a:rPr lang="en-US" b="1" i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(35%) </a:t>
            </a:r>
            <a:r>
              <a:rPr lang="en-US" b="1" i="1" dirty="0">
                <a:latin typeface="Calibri" panose="020F0502020204030204" pitchFamily="34" charset="0"/>
                <a:cs typeface="Calibri" panose="020F0502020204030204" pitchFamily="34" charset="0"/>
              </a:rPr>
              <a:t>Final Exam </a:t>
            </a:r>
            <a:r>
              <a:rPr lang="en-US" b="1" i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(45%)</a:t>
            </a:r>
          </a:p>
          <a:p>
            <a:pPr lvl="1"/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In-person, so no AI 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</a:t>
            </a:r>
          </a:p>
          <a:p>
            <a:pPr lvl="1"/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One page of handwritten cheat sheet</a:t>
            </a:r>
          </a:p>
          <a:p>
            <a:pPr lvl="1"/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Date to be announced soon</a:t>
            </a:r>
            <a:endParaRPr lang="en-US" i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2DB85D-CD82-9607-A272-55FB2035D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C9E33-6753-472F-9C09-83153B974C9D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6501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7CC9D-7421-B54B-27EC-F3BEDDCDB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9EAA6-AFB3-8D30-44A0-CF6EBFAD4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Grading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1404F6-23A2-C269-8E70-A640B77AF0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latin typeface="Calibri" panose="020F0502020204030204" pitchFamily="34" charset="0"/>
                <a:cs typeface="Calibri" panose="020F0502020204030204" pitchFamily="34" charset="0"/>
              </a:rPr>
              <a:t>Grade Distribution? </a:t>
            </a:r>
          </a:p>
          <a:p>
            <a:r>
              <a:rPr lang="en-US" b="1" i="1" dirty="0">
                <a:latin typeface="Calibri" panose="020F0502020204030204" pitchFamily="34" charset="0"/>
                <a:cs typeface="Calibri" panose="020F0502020204030204" pitchFamily="34" charset="0"/>
              </a:rPr>
              <a:t>Percentage of A+/A? </a:t>
            </a:r>
          </a:p>
          <a:p>
            <a:r>
              <a:rPr lang="en-US" b="1" i="1" dirty="0">
                <a:latin typeface="Calibri" panose="020F0502020204030204" pitchFamily="34" charset="0"/>
                <a:cs typeface="Calibri" panose="020F0502020204030204" pitchFamily="34" charset="0"/>
              </a:rPr>
              <a:t>Number of Fails?</a:t>
            </a:r>
          </a:p>
          <a:p>
            <a:endParaRPr lang="en-US" b="1" i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https://</a:t>
            </a:r>
            <a:r>
              <a:rPr lang="en-US" dirty="0" err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registry.hkust.edu.hk</a:t>
            </a:r>
            <a:r>
              <a:rPr lang="en-US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/resource-library/grading-courses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B685A7-D9A4-77D6-7843-DF89BA638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C9E33-6753-472F-9C09-83153B974C9D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6595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AA06C3-05AC-C5F9-E059-D64803EF5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3E0BD-AB8E-D018-3F00-0244A26FC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Materials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5D8C75-6A0F-7B5A-B46C-1917516B4B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i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Course notes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 / slides</a:t>
            </a:r>
          </a:p>
          <a:p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Textbook</a:t>
            </a:r>
          </a:p>
          <a:p>
            <a:pPr lvl="1"/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Discrete Mathematics and Its Applications (Physical Textbook) Rosen</a:t>
            </a:r>
          </a:p>
          <a:p>
            <a:pPr lvl="1"/>
            <a:endParaRPr lang="en-US" i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Others</a:t>
            </a:r>
          </a:p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  <a:hlinkClick r:id="rId3"/>
              </a:rPr>
              <a:t>A Course in Discrete Structures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by Pass and Tseng</a:t>
            </a:r>
          </a:p>
          <a:p>
            <a:pPr lvl="1"/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(Chinese Textbook) 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离散数学与结构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 by 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邓小铁 王畅</a:t>
            </a:r>
            <a:endParaRPr lang="en-US" altLang="zh-C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endParaRPr lang="en-US" altLang="zh-C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You can find them in our homepage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  <a:hlinkClick r:id="rId4"/>
              </a:rPr>
              <a:t>https://wuwuz.github.io/COMP2711/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lvl="1"/>
            <a:endParaRPr lang="en-US" i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endParaRPr lang="en-US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E98B1A-9F84-F7AA-C88D-23966E92A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C9E33-6753-472F-9C09-83153B974C9D}" type="slidenum">
              <a:rPr lang="zh-CN" altLang="en-US" smtClean="0">
                <a:latin typeface="Calibri" panose="020F0502020204030204" pitchFamily="34" charset="0"/>
                <a:cs typeface="Calibri" panose="020F0502020204030204" pitchFamily="34" charset="0"/>
              </a:rPr>
              <a:t>17</a:t>
            </a:fld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75301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5819" y="2628641"/>
            <a:ext cx="10515600" cy="1325563"/>
          </a:xfrm>
        </p:spPr>
        <p:txBody>
          <a:bodyPr>
            <a:normAutofit/>
          </a:bodyPr>
          <a:lstStyle/>
          <a:p>
            <a:pPr algn="l">
              <a:buNone/>
            </a:pPr>
            <a:r>
              <a:rPr lang="en-US" sz="7200" b="1" dirty="0">
                <a:latin typeface="Calibri" panose="020F0502020204030204" pitchFamily="34" charset="0"/>
                <a:cs typeface="Calibri" panose="020F0502020204030204" pitchFamily="34" charset="0"/>
              </a:rPr>
              <a:t>Q&amp;A?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C9E33-6753-472F-9C09-83153B974C9D}" type="slidenum">
              <a:rPr lang="zh-CN" altLang="en-US" smtClean="0">
                <a:latin typeface="Calibri" panose="020F0502020204030204" pitchFamily="34" charset="0"/>
                <a:cs typeface="Calibri" panose="020F0502020204030204" pitchFamily="34" charset="0"/>
              </a:rPr>
              <a:t>18</a:t>
            </a:fld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33930</TotalTime>
  <Words>669</Words>
  <Application>Microsoft Macintosh PowerPoint</Application>
  <PresentationFormat>Widescreen</PresentationFormat>
  <Paragraphs>157</Paragraphs>
  <Slides>18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等线</vt:lpstr>
      <vt:lpstr>等线 Light</vt:lpstr>
      <vt:lpstr>Arial</vt:lpstr>
      <vt:lpstr>Calibri</vt:lpstr>
      <vt:lpstr>Cambria Math</vt:lpstr>
      <vt:lpstr>Office 主题​​</vt:lpstr>
      <vt:lpstr>COMP 2711  Discrete Math</vt:lpstr>
      <vt:lpstr>About me</vt:lpstr>
      <vt:lpstr>About me</vt:lpstr>
      <vt:lpstr>Why Discrete Math?</vt:lpstr>
      <vt:lpstr>What you are going to learn (1)</vt:lpstr>
      <vt:lpstr>What you are going to learn (2)</vt:lpstr>
      <vt:lpstr>What you are going to learn (3)</vt:lpstr>
      <vt:lpstr>What you are going to learn (4)</vt:lpstr>
      <vt:lpstr>About the Class</vt:lpstr>
      <vt:lpstr>Everything starts here (take a picture )</vt:lpstr>
      <vt:lpstr>People</vt:lpstr>
      <vt:lpstr>Time &amp; Location</vt:lpstr>
      <vt:lpstr>Communication</vt:lpstr>
      <vt:lpstr>Grading</vt:lpstr>
      <vt:lpstr>Grading</vt:lpstr>
      <vt:lpstr>Grading</vt:lpstr>
      <vt:lpstr>Materials</vt:lpstr>
      <vt:lpstr>Q&amp;A?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Recent Progress in  Private Information Retrieval</dc:title>
  <dc:creator>Mingxun Zhou</dc:creator>
  <cp:lastModifiedBy>ZHOU Mingxun</cp:lastModifiedBy>
  <cp:revision>1822</cp:revision>
  <dcterms:created xsi:type="dcterms:W3CDTF">2026-07-08T03:36:25Z</dcterms:created>
  <dcterms:modified xsi:type="dcterms:W3CDTF">2026-08-31T08:16:05Z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49DC2F6D2B65DA87B3C54D6AD2DF1C12_42</vt:lpwstr>
  </property>
  <property fmtid="{D5CDD505-2E9C-101B-9397-08002B2CF9AE}" pid="3" name="KSOProductBuildVer">
    <vt:lpwstr>2052-12.1.25869.25869</vt:lpwstr>
  </property>
</Properties>
</file>